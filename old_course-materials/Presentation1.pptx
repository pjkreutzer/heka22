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76" r:id="rId3"/>
    <p:sldId id="274" r:id="rId4"/>
    <p:sldId id="278" r:id="rId5"/>
    <p:sldId id="279" r:id="rId6"/>
    <p:sldId id="280" r:id="rId7"/>
    <p:sldId id="281" r:id="rId8"/>
    <p:sldId id="283" r:id="rId9"/>
    <p:sldId id="284" r:id="rId10"/>
    <p:sldId id="286" r:id="rId11"/>
    <p:sldId id="287" r:id="rId12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6"/>
  </p:normalViewPr>
  <p:slideViewPr>
    <p:cSldViewPr snapToGrid="0">
      <p:cViewPr varScale="1">
        <p:scale>
          <a:sx n="90" d="100"/>
          <a:sy n="90" d="100"/>
        </p:scale>
        <p:origin x="232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Platshållare fö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F987E3-7844-C947-98DC-15670A4258C4}" type="datetimeFigureOut">
              <a:rPr lang="sv-SE" smtClean="0"/>
              <a:t>2025-05-06</a:t>
            </a:fld>
            <a:endParaRPr lang="sv-SE"/>
          </a:p>
        </p:txBody>
      </p:sp>
      <p:sp>
        <p:nvSpPr>
          <p:cNvPr id="4" name="Platshållare för bildobjekt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/>
          </a:p>
        </p:txBody>
      </p:sp>
      <p:sp>
        <p:nvSpPr>
          <p:cNvPr id="5" name="Platshållare för anteckninga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59535C-34BC-DF40-B12E-980D77270C1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4166184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15E93A-1D99-C14A-9E5A-A7B62A52C784}" type="slidenum">
              <a:rPr lang="sv-SE" smtClean="0"/>
              <a:t>2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5953930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15E93A-1D99-C14A-9E5A-A7B62A52C784}" type="slidenum">
              <a:rPr lang="sv-SE" smtClean="0"/>
              <a:t>3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0137120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9347483B-0D13-14A4-4636-71334B61BC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89FE0F89-4C9D-7AE5-35B9-087252BD43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/>
              <a:t>Klicka här för att ändra mall för underrubrikformat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5CEFB4E5-75DF-2EB8-79E7-7B6D25BB2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A269D-DB84-3742-A689-81FD298599DD}" type="datetimeFigureOut">
              <a:rPr lang="sv-SE" smtClean="0"/>
              <a:t>2025-05-06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94D9C2DD-5AEC-225D-0B10-71ADD0F3C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A3B87A3E-B850-B957-80F1-5D1272A3B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D7C3B-EDE4-5D44-A6D4-611C3A63F1D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84206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936F7CCA-194D-9FAF-07C8-97C557568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798791CE-7280-7335-99A4-B2CADDA7BF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C88FB898-745F-D37A-443D-2AF3D8AC9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A269D-DB84-3742-A689-81FD298599DD}" type="datetimeFigureOut">
              <a:rPr lang="sv-SE" smtClean="0"/>
              <a:t>2025-05-06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3CDDED60-CDCB-3DC1-B380-DD80AFA79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FEAB9841-C211-87F3-44F3-E0921B760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D7C3B-EDE4-5D44-A6D4-611C3A63F1D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5441326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86409F5F-532D-3B0D-A788-C787B4132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920E60ED-98A8-FCA6-4AC9-BDA2C351C5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851B3A91-3FE3-08BD-908A-BEC90D0AF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A269D-DB84-3742-A689-81FD298599DD}" type="datetimeFigureOut">
              <a:rPr lang="sv-SE" smtClean="0"/>
              <a:t>2025-05-06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E643DC27-6696-D320-74D8-85336E126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12AD69F4-BC17-D2E8-E4D5-DF89748A8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D7C3B-EDE4-5D44-A6D4-611C3A63F1D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36141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vå de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D029A146-0014-C3EB-8900-ABA95A4C0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7D406D39-8A20-F160-A5CC-620D302B80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8A0848DB-ACC2-D818-880E-6D175B8A23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C6197E72-8DD8-069A-A909-D63B46420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A269D-DB84-3742-A689-81FD298599DD}" type="datetimeFigureOut">
              <a:rPr lang="sv-SE" smtClean="0"/>
              <a:t>2025-05-06</a:t>
            </a:fld>
            <a:endParaRPr lang="sv-SE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15A892E6-7BC3-C795-D48F-27FB543F2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C671FD9C-CC3C-95A5-B836-8A045B31D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D7C3B-EDE4-5D44-A6D4-611C3A63F1D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9934898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6974126C-E75C-BC2B-F8DE-2E16FCFA1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DADC18B7-C3F7-FED1-A1E0-E580B703EA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9EA69823-D777-974F-154D-DF8D9F53C1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5" name="Platshållare för text 4">
            <a:extLst>
              <a:ext uri="{FF2B5EF4-FFF2-40B4-BE49-F238E27FC236}">
                <a16:creationId xmlns:a16="http://schemas.microsoft.com/office/drawing/2014/main" id="{D7C99C09-40F5-200A-5962-6412A43266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6" name="Platshållare för innehåll 5">
            <a:extLst>
              <a:ext uri="{FF2B5EF4-FFF2-40B4-BE49-F238E27FC236}">
                <a16:creationId xmlns:a16="http://schemas.microsoft.com/office/drawing/2014/main" id="{2E0EE63C-DF9A-916C-5BDE-8A187D4900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7" name="Platshållare för datum 6">
            <a:extLst>
              <a:ext uri="{FF2B5EF4-FFF2-40B4-BE49-F238E27FC236}">
                <a16:creationId xmlns:a16="http://schemas.microsoft.com/office/drawing/2014/main" id="{8556117C-6215-2DFE-3FEA-5988F6AEF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A269D-DB84-3742-A689-81FD298599DD}" type="datetimeFigureOut">
              <a:rPr lang="sv-SE" smtClean="0"/>
              <a:t>2025-05-06</a:t>
            </a:fld>
            <a:endParaRPr lang="sv-SE"/>
          </a:p>
        </p:txBody>
      </p:sp>
      <p:sp>
        <p:nvSpPr>
          <p:cNvPr id="8" name="Platshållare för sidfot 7">
            <a:extLst>
              <a:ext uri="{FF2B5EF4-FFF2-40B4-BE49-F238E27FC236}">
                <a16:creationId xmlns:a16="http://schemas.microsoft.com/office/drawing/2014/main" id="{D5FA8631-104F-FBD0-B65B-8552AA8F0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Platshållare för bildnummer 8">
            <a:extLst>
              <a:ext uri="{FF2B5EF4-FFF2-40B4-BE49-F238E27FC236}">
                <a16:creationId xmlns:a16="http://schemas.microsoft.com/office/drawing/2014/main" id="{A3B4DA42-02CD-CAE2-085B-B0153FF24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D7C3B-EDE4-5D44-A6D4-611C3A63F1D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1937649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7B979567-DAE0-2108-AC04-AAF95C775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CB6121F7-26DD-A328-45F6-934C8FAD9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A269D-DB84-3742-A689-81FD298599DD}" type="datetimeFigureOut">
              <a:rPr lang="sv-SE" smtClean="0"/>
              <a:t>2025-05-06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576FB841-577E-6D05-7CAC-580BDE4DE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828853FA-E1D4-2F73-6AEE-6EBCAA208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D7C3B-EDE4-5D44-A6D4-611C3A63F1D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4298183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datum 1">
            <a:extLst>
              <a:ext uri="{FF2B5EF4-FFF2-40B4-BE49-F238E27FC236}">
                <a16:creationId xmlns:a16="http://schemas.microsoft.com/office/drawing/2014/main" id="{80BC7B19-82E9-9AF9-AB54-3F5B31658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A269D-DB84-3742-A689-81FD298599DD}" type="datetimeFigureOut">
              <a:rPr lang="sv-SE" smtClean="0"/>
              <a:t>2025-05-06</a:t>
            </a:fld>
            <a:endParaRPr lang="sv-SE"/>
          </a:p>
        </p:txBody>
      </p:sp>
      <p:sp>
        <p:nvSpPr>
          <p:cNvPr id="3" name="Platshållare för sidfot 2">
            <a:extLst>
              <a:ext uri="{FF2B5EF4-FFF2-40B4-BE49-F238E27FC236}">
                <a16:creationId xmlns:a16="http://schemas.microsoft.com/office/drawing/2014/main" id="{824519DB-7921-A9CC-D327-217AEF2AA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EBBA7D4B-56D3-74C7-EB1A-DB0075720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D7C3B-EDE4-5D44-A6D4-611C3A63F1D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574285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ext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55787F33-AE16-FA70-9BF8-626DEEF61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0719D4A2-A4C1-73CC-429C-A7CA8F4DF5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6F551FD3-3813-0CC5-350A-A82CB4623D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23144B7A-86C1-8090-ACF4-0A93ED4AC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A269D-DB84-3742-A689-81FD298599DD}" type="datetimeFigureOut">
              <a:rPr lang="sv-SE" smtClean="0"/>
              <a:t>2025-05-06</a:t>
            </a:fld>
            <a:endParaRPr lang="sv-SE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A725A18D-E1AF-9B49-A380-A7070F6E3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50831B8A-A53C-24F4-781F-1666B5BB8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D7C3B-EDE4-5D44-A6D4-611C3A63F1D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6822147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D5DF50FA-4AEA-682A-8C46-6FB0D062B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bild 2">
            <a:extLst>
              <a:ext uri="{FF2B5EF4-FFF2-40B4-BE49-F238E27FC236}">
                <a16:creationId xmlns:a16="http://schemas.microsoft.com/office/drawing/2014/main" id="{40EA3011-256B-FEA9-06E5-2F4624CC7C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A108BCFC-6B1A-DA37-0E32-0EAC227A70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03A54B61-6755-42BD-9AC0-FFE45925F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A269D-DB84-3742-A689-81FD298599DD}" type="datetimeFigureOut">
              <a:rPr lang="sv-SE" smtClean="0"/>
              <a:t>2025-05-06</a:t>
            </a:fld>
            <a:endParaRPr lang="sv-SE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BC487474-603A-52F1-8DAB-A2110CFF9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92F820F4-AD11-75EC-2C96-33B351D24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D7C3B-EDE4-5D44-A6D4-611C3A63F1D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4202730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EB168940-D00D-1CC2-61F4-F6FA27758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lodrät text 2">
            <a:extLst>
              <a:ext uri="{FF2B5EF4-FFF2-40B4-BE49-F238E27FC236}">
                <a16:creationId xmlns:a16="http://schemas.microsoft.com/office/drawing/2014/main" id="{57D011FF-C164-E879-CF10-D44BE24909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2553435F-D038-08C3-9129-44F61A503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A269D-DB84-3742-A689-81FD298599DD}" type="datetimeFigureOut">
              <a:rPr lang="sv-SE" smtClean="0"/>
              <a:t>2025-05-06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ADE0B8E8-0502-D14B-03A6-BC3190DF7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D249AB48-BE2C-CE52-59A8-A6FF76158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D7C3B-EDE4-5D44-A6D4-611C3A63F1D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9926311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ät rubrik 1">
            <a:extLst>
              <a:ext uri="{FF2B5EF4-FFF2-40B4-BE49-F238E27FC236}">
                <a16:creationId xmlns:a16="http://schemas.microsoft.com/office/drawing/2014/main" id="{964CD981-9467-C660-5358-EA1CF2DECC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lodrät text 2">
            <a:extLst>
              <a:ext uri="{FF2B5EF4-FFF2-40B4-BE49-F238E27FC236}">
                <a16:creationId xmlns:a16="http://schemas.microsoft.com/office/drawing/2014/main" id="{5341FB26-1CF3-CCC4-1E25-0D22A1350A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C2E3B1A7-8325-CD78-C594-4B7FC478A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A269D-DB84-3742-A689-81FD298599DD}" type="datetimeFigureOut">
              <a:rPr lang="sv-SE" smtClean="0"/>
              <a:t>2025-05-06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AFF972D3-9986-6358-6DE3-A90191409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BA0FBFC1-54B3-D9C3-DC49-A1BC78002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D7C3B-EDE4-5D44-A6D4-611C3A63F1D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41322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rubrik 1">
            <a:extLst>
              <a:ext uri="{FF2B5EF4-FFF2-40B4-BE49-F238E27FC236}">
                <a16:creationId xmlns:a16="http://schemas.microsoft.com/office/drawing/2014/main" id="{BA2BD932-4E47-FD13-9186-A61171A08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22D800C5-EEBE-BA7B-FA0C-827DAAAC82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62E488D8-82E5-204B-F2CD-67142432F2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2A269D-DB84-3742-A689-81FD298599DD}" type="datetimeFigureOut">
              <a:rPr lang="sv-SE" smtClean="0"/>
              <a:t>2025-05-06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8E066FC2-0F42-8CB1-6DC7-475B649345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9252FB05-1489-9407-FC18-D86F7DD5E7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2D7C3B-EDE4-5D44-A6D4-611C3A63F1D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801324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A2E8E704-F44F-205B-F26F-64257D4790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02245DCD-6FD8-D42E-48F1-B526722B4A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6870074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91E8AC91-0A20-446A-4EF6-4D6038351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sv-SE" dirty="0" err="1"/>
              <a:t>Quiz</a:t>
            </a:r>
            <a:r>
              <a:rPr lang="sv-SE" dirty="0"/>
              <a:t>!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D4C823D4-8202-6CA5-95BF-BDD110AA0E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sv-SE" dirty="0"/>
              <a:t>Skapat av Clara </a:t>
            </a:r>
            <a:r>
              <a:rPr lang="sv-SE" dirty="0" err="1"/>
              <a:t>Dallaire-Fortier</a:t>
            </a:r>
            <a:r>
              <a:rPr lang="sv-SE"/>
              <a:t> (doktorand EHL)</a:t>
            </a:r>
            <a:endParaRPr lang="sv-SE" dirty="0"/>
          </a:p>
        </p:txBody>
      </p:sp>
      <p:pic>
        <p:nvPicPr>
          <p:cNvPr id="4" name="Bildobjekt 3" descr="En bild som visar text, Teckensnitt, logotyp, emblem&#10;&#10;Automatiskt genererad beskrivning">
            <a:extLst>
              <a:ext uri="{FF2B5EF4-FFF2-40B4-BE49-F238E27FC236}">
                <a16:creationId xmlns:a16="http://schemas.microsoft.com/office/drawing/2014/main" id="{A139DDD1-3BDB-CF12-2E3A-F1EBD0DD8A7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rcRect t="7" r="35731" b="53319"/>
          <a:stretch/>
        </p:blipFill>
        <p:spPr>
          <a:xfrm>
            <a:off x="9911041" y="4850779"/>
            <a:ext cx="2291158" cy="2004763"/>
          </a:xfrm>
          <a:prstGeom prst="rect">
            <a:avLst/>
          </a:prstGeom>
          <a:noFill/>
          <a:effectLst>
            <a:outerShdw sx="1000" sy="1000" algn="ctr" rotWithShape="0">
              <a:schemeClr val="tx1"/>
            </a:outerShdw>
          </a:effectLst>
        </p:spPr>
      </p:pic>
    </p:spTree>
    <p:extLst>
      <p:ext uri="{BB962C8B-B14F-4D97-AF65-F5344CB8AC3E}">
        <p14:creationId xmlns:p14="http://schemas.microsoft.com/office/powerpoint/2010/main" val="24620456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ruta 2">
            <a:extLst>
              <a:ext uri="{FF2B5EF4-FFF2-40B4-BE49-F238E27FC236}">
                <a16:creationId xmlns:a16="http://schemas.microsoft.com/office/drawing/2014/main" id="{99A96CE6-02DC-2FBE-1C5B-5B9C57D9382B}"/>
              </a:ext>
            </a:extLst>
          </p:cNvPr>
          <p:cNvSpPr txBox="1"/>
          <p:nvPr/>
        </p:nvSpPr>
        <p:spPr>
          <a:xfrm>
            <a:off x="3049030" y="3244334"/>
            <a:ext cx="60980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sv-SE" dirty="0"/>
          </a:p>
        </p:txBody>
      </p:sp>
      <p:sp>
        <p:nvSpPr>
          <p:cNvPr id="5" name="textruta 4">
            <a:extLst>
              <a:ext uri="{FF2B5EF4-FFF2-40B4-BE49-F238E27FC236}">
                <a16:creationId xmlns:a16="http://schemas.microsoft.com/office/drawing/2014/main" id="{4A289F38-62FE-037A-2B45-FDBB26435A14}"/>
              </a:ext>
            </a:extLst>
          </p:cNvPr>
          <p:cNvSpPr txBox="1"/>
          <p:nvPr/>
        </p:nvSpPr>
        <p:spPr>
          <a:xfrm>
            <a:off x="3049030" y="3244334"/>
            <a:ext cx="60980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sv-SE" dirty="0"/>
          </a:p>
        </p:txBody>
      </p:sp>
      <p:sp>
        <p:nvSpPr>
          <p:cNvPr id="4" name="textruta 3">
            <a:extLst>
              <a:ext uri="{FF2B5EF4-FFF2-40B4-BE49-F238E27FC236}">
                <a16:creationId xmlns:a16="http://schemas.microsoft.com/office/drawing/2014/main" id="{CBCE310E-6C1F-EA42-F63A-0D84F1712358}"/>
              </a:ext>
            </a:extLst>
          </p:cNvPr>
          <p:cNvSpPr txBox="1"/>
          <p:nvPr/>
        </p:nvSpPr>
        <p:spPr>
          <a:xfrm>
            <a:off x="0" y="0"/>
            <a:ext cx="12192000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sv-SE" sz="4000" b="1" dirty="0">
              <a:effectLst/>
              <a:ea typeface="Times New Roman" panose="02020603050405020304" pitchFamily="18" charset="0"/>
            </a:endParaRPr>
          </a:p>
          <a:p>
            <a:r>
              <a:rPr lang="sv-SE" sz="4000" b="1" dirty="0">
                <a:effectLst/>
                <a:ea typeface="Times New Roman" panose="02020603050405020304" pitchFamily="18" charset="0"/>
              </a:rPr>
              <a:t>Betalning för ekosystemtjänster</a:t>
            </a:r>
          </a:p>
          <a:p>
            <a:endParaRPr lang="sv-SE" sz="4000" b="1" dirty="0">
              <a:effectLst/>
              <a:ea typeface="Times New Roman" panose="02020603050405020304" pitchFamily="18" charset="0"/>
            </a:endParaRPr>
          </a:p>
          <a:p>
            <a:r>
              <a:rPr lang="sv-SE" sz="3600" dirty="0">
                <a:effectLst/>
                <a:ea typeface="Times New Roman" panose="02020603050405020304" pitchFamily="18" charset="0"/>
              </a:rPr>
              <a:t>Regeringar eller privata aktörer kan betala markägare eller samhällen för de ekosystemtjänster de tillhandahåller.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sv-SE" sz="3600" dirty="0">
              <a:effectLst/>
              <a:ea typeface="Times New Roman" panose="02020603050405020304" pitchFamily="18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sv-SE" sz="3600" dirty="0">
                <a:effectLst/>
                <a:ea typeface="Times New Roman" panose="02020603050405020304" pitchFamily="18" charset="0"/>
              </a:rPr>
              <a:t>Exempel: Jordbrukare kan få betalt för att använda hållbara jordbruksmetoder som bevarar </a:t>
            </a:r>
            <a:r>
              <a:rPr lang="sv-SE" sz="3600" dirty="0" err="1">
                <a:effectLst/>
                <a:ea typeface="Times New Roman" panose="02020603050405020304" pitchFamily="18" charset="0"/>
              </a:rPr>
              <a:t>jordhälsa</a:t>
            </a:r>
            <a:r>
              <a:rPr lang="sv-SE" sz="3600" dirty="0">
                <a:effectLst/>
                <a:ea typeface="Times New Roman" panose="02020603050405020304" pitchFamily="18" charset="0"/>
              </a:rPr>
              <a:t> och vattenkvalitet. </a:t>
            </a:r>
            <a:endParaRPr lang="sv-SE" sz="3600" dirty="0">
              <a:ea typeface="Times New Roman" panose="02020603050405020304" pitchFamily="18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sv-SE" sz="3600" dirty="0">
                <a:effectLst/>
                <a:ea typeface="Times New Roman" panose="02020603050405020304" pitchFamily="18" charset="0"/>
              </a:rPr>
              <a:t>Exempel: Samhällen kan få betalt för att bevara skogar som skyddar avrinningsområden.</a:t>
            </a:r>
          </a:p>
        </p:txBody>
      </p:sp>
      <p:pic>
        <p:nvPicPr>
          <p:cNvPr id="2" name="Bildobjekt 1" descr="En bild som visar text, Teckensnitt, logotyp, emblem&#10;&#10;Automatiskt genererad beskrivning">
            <a:extLst>
              <a:ext uri="{FF2B5EF4-FFF2-40B4-BE49-F238E27FC236}">
                <a16:creationId xmlns:a16="http://schemas.microsoft.com/office/drawing/2014/main" id="{9BF6523D-9632-6CC7-617C-D1F3E4BC2F9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rcRect t="7" r="35731" b="53319"/>
          <a:stretch/>
        </p:blipFill>
        <p:spPr>
          <a:xfrm>
            <a:off x="9911041" y="4850779"/>
            <a:ext cx="2291158" cy="2004763"/>
          </a:xfrm>
          <a:prstGeom prst="rect">
            <a:avLst/>
          </a:prstGeom>
          <a:noFill/>
          <a:effectLst>
            <a:outerShdw sx="1000" sy="1000" algn="ctr" rotWithShape="0">
              <a:schemeClr val="tx1"/>
            </a:outerShdw>
          </a:effectLst>
        </p:spPr>
      </p:pic>
    </p:spTree>
    <p:extLst>
      <p:ext uri="{BB962C8B-B14F-4D97-AF65-F5344CB8AC3E}">
        <p14:creationId xmlns:p14="http://schemas.microsoft.com/office/powerpoint/2010/main" val="14852959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ruta 4">
            <a:extLst>
              <a:ext uri="{FF2B5EF4-FFF2-40B4-BE49-F238E27FC236}">
                <a16:creationId xmlns:a16="http://schemas.microsoft.com/office/drawing/2014/main" id="{0640DB07-E587-CE93-0461-C39BE9BCDBA4}"/>
              </a:ext>
            </a:extLst>
          </p:cNvPr>
          <p:cNvSpPr txBox="1"/>
          <p:nvPr/>
        </p:nvSpPr>
        <p:spPr>
          <a:xfrm>
            <a:off x="0" y="1"/>
            <a:ext cx="11055927" cy="69249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sv-SE" sz="4000" b="1" dirty="0">
              <a:effectLst/>
              <a:ea typeface="Times New Roman" panose="02020603050405020304" pitchFamily="18" charset="0"/>
            </a:endParaRPr>
          </a:p>
          <a:p>
            <a:r>
              <a:rPr lang="sv-SE" sz="4000" b="1" dirty="0">
                <a:effectLst/>
                <a:ea typeface="Times New Roman" panose="02020603050405020304" pitchFamily="18" charset="0"/>
              </a:rPr>
              <a:t>Moraliskt övertalande</a:t>
            </a:r>
            <a:r>
              <a:rPr lang="sv-SE" sz="4000" dirty="0">
                <a:effectLst/>
                <a:ea typeface="Times New Roman" panose="02020603050405020304" pitchFamily="18" charset="0"/>
              </a:rPr>
              <a:t> </a:t>
            </a:r>
          </a:p>
          <a:p>
            <a:endParaRPr lang="sv-SE" sz="4000" dirty="0">
              <a:ea typeface="Times New Roman" panose="02020603050405020304" pitchFamily="18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sv-SE" sz="3600" dirty="0">
                <a:effectLst/>
                <a:ea typeface="Times New Roman" panose="02020603050405020304" pitchFamily="18" charset="0"/>
              </a:rPr>
              <a:t>Ekomärkningar bör införas för att påverka allmänhetens uppfattning.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sv-SE" sz="3600" dirty="0">
              <a:effectLst/>
              <a:ea typeface="Times New Roman" panose="02020603050405020304" pitchFamily="18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sv-SE" sz="3600" dirty="0">
                <a:effectLst/>
                <a:ea typeface="Times New Roman" panose="02020603050405020304" pitchFamily="18" charset="0"/>
              </a:rPr>
              <a:t>Det är viktigt att skapa incitament för människor att minska konsumtionen av miljöskadliga varor.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sv-SE" sz="3600" dirty="0">
              <a:effectLst/>
              <a:ea typeface="Times New Roman" panose="02020603050405020304" pitchFamily="18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sv-SE" sz="3600" dirty="0">
                <a:effectLst/>
                <a:ea typeface="Times New Roman" panose="02020603050405020304" pitchFamily="18" charset="0"/>
              </a:rPr>
              <a:t>Staten kan investera i grundforskning och finansiera kampanjer för att öka medvetenheten hos allmänheten.</a:t>
            </a:r>
          </a:p>
        </p:txBody>
      </p:sp>
      <p:pic>
        <p:nvPicPr>
          <p:cNvPr id="2" name="Bildobjekt 1" descr="En bild som visar text, Teckensnitt, logotyp, emblem&#10;&#10;Automatiskt genererad beskrivning">
            <a:extLst>
              <a:ext uri="{FF2B5EF4-FFF2-40B4-BE49-F238E27FC236}">
                <a16:creationId xmlns:a16="http://schemas.microsoft.com/office/drawing/2014/main" id="{D3AF81C4-17EF-49D3-5B46-E3499215D41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rcRect t="7" r="35731" b="53319"/>
          <a:stretch/>
        </p:blipFill>
        <p:spPr>
          <a:xfrm>
            <a:off x="9911041" y="4850779"/>
            <a:ext cx="2291158" cy="2004763"/>
          </a:xfrm>
          <a:prstGeom prst="rect">
            <a:avLst/>
          </a:prstGeom>
          <a:noFill/>
          <a:effectLst>
            <a:outerShdw sx="1000" sy="1000" algn="ctr" rotWithShape="0">
              <a:schemeClr val="tx1"/>
            </a:outerShdw>
          </a:effectLst>
        </p:spPr>
      </p:pic>
    </p:spTree>
    <p:extLst>
      <p:ext uri="{BB962C8B-B14F-4D97-AF65-F5344CB8AC3E}">
        <p14:creationId xmlns:p14="http://schemas.microsoft.com/office/powerpoint/2010/main" val="40410726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ruta 4">
            <a:extLst>
              <a:ext uri="{FF2B5EF4-FFF2-40B4-BE49-F238E27FC236}">
                <a16:creationId xmlns:a16="http://schemas.microsoft.com/office/drawing/2014/main" id="{B2830912-FF9B-EA68-2952-F8630BD4D407}"/>
              </a:ext>
            </a:extLst>
          </p:cNvPr>
          <p:cNvSpPr txBox="1"/>
          <p:nvPr/>
        </p:nvSpPr>
        <p:spPr>
          <a:xfrm>
            <a:off x="1" y="1"/>
            <a:ext cx="10668000" cy="69249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sv-SE" sz="2400" b="1" dirty="0">
              <a:effectLst/>
              <a:ea typeface="Times New Roman" panose="02020603050405020304" pitchFamily="18" charset="0"/>
            </a:endParaRPr>
          </a:p>
          <a:p>
            <a:r>
              <a:rPr lang="sv-SE" sz="3600" b="1" dirty="0">
                <a:effectLst/>
                <a:ea typeface="Times New Roman" panose="02020603050405020304" pitchFamily="18" charset="0"/>
              </a:rPr>
              <a:t>Samhällsbaserade ekonomier</a:t>
            </a:r>
            <a:r>
              <a:rPr lang="sv-SE" sz="3600" dirty="0">
                <a:effectLst/>
                <a:ea typeface="Times New Roman" panose="02020603050405020304" pitchFamily="18" charset="0"/>
              </a:rPr>
              <a:t> </a:t>
            </a:r>
          </a:p>
          <a:p>
            <a:endParaRPr lang="sv-SE" sz="3200" dirty="0">
              <a:ea typeface="Times New Roman" panose="02020603050405020304" pitchFamily="18" charset="0"/>
            </a:endParaRPr>
          </a:p>
          <a:p>
            <a:r>
              <a:rPr lang="sv-SE" sz="3200" dirty="0">
                <a:ea typeface="Times New Roman" panose="02020603050405020304" pitchFamily="18" charset="0"/>
              </a:rPr>
              <a:t>Gör</a:t>
            </a:r>
            <a:r>
              <a:rPr lang="sv-SE" sz="3200" dirty="0">
                <a:effectLst/>
                <a:ea typeface="Times New Roman" panose="02020603050405020304" pitchFamily="18" charset="0"/>
              </a:rPr>
              <a:t> ekonomiska processer lokala genom att minska avståndet mellan producenter och konsumenter samt tidigt som miljöpåverkan från transport och distribution minskar. </a:t>
            </a:r>
          </a:p>
          <a:p>
            <a:endParaRPr lang="sv-SE" sz="3200" dirty="0">
              <a:ea typeface="Times New Roman" panose="02020603050405020304" pitchFamily="18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sv-SE" sz="3200" dirty="0">
                <a:effectLst/>
                <a:ea typeface="Times New Roman" panose="02020603050405020304" pitchFamily="18" charset="0"/>
              </a:rPr>
              <a:t>Samhällsbaserade ekonomier ska prioritera social och miljömässig rättvisa och sträva efter att skapa ekonomiska system som är rättvisa och inkluderande.</a:t>
            </a:r>
          </a:p>
          <a:p>
            <a:endParaRPr lang="sv-SE" sz="3200" dirty="0">
              <a:effectLst/>
              <a:ea typeface="Times New Roman" panose="02020603050405020304" pitchFamily="18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sv-SE" sz="3200" dirty="0">
                <a:effectLst/>
                <a:ea typeface="Times New Roman" panose="02020603050405020304" pitchFamily="18" charset="0"/>
              </a:rPr>
              <a:t>Det innebär arbetarägande, stöd till marginaliserade grupper och prioritering av miljömässigt hållbara metoder.</a:t>
            </a:r>
          </a:p>
        </p:txBody>
      </p:sp>
      <p:pic>
        <p:nvPicPr>
          <p:cNvPr id="2" name="Bildobjekt 1" descr="En bild som visar text, Teckensnitt, logotyp, emblem&#10;&#10;Automatiskt genererad beskrivning">
            <a:extLst>
              <a:ext uri="{FF2B5EF4-FFF2-40B4-BE49-F238E27FC236}">
                <a16:creationId xmlns:a16="http://schemas.microsoft.com/office/drawing/2014/main" id="{AD7AAF4D-D445-FED7-6B18-BAC8CA96EB3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rcRect t="7" r="35731" b="53319"/>
          <a:stretch/>
        </p:blipFill>
        <p:spPr>
          <a:xfrm>
            <a:off x="9911041" y="4850779"/>
            <a:ext cx="2291158" cy="2004763"/>
          </a:xfrm>
          <a:prstGeom prst="rect">
            <a:avLst/>
          </a:prstGeom>
          <a:noFill/>
          <a:effectLst>
            <a:outerShdw sx="1000" sy="1000" algn="ctr" rotWithShape="0">
              <a:schemeClr val="tx1"/>
            </a:outerShdw>
          </a:effectLst>
        </p:spPr>
      </p:pic>
    </p:spTree>
    <p:extLst>
      <p:ext uri="{BB962C8B-B14F-4D97-AF65-F5344CB8AC3E}">
        <p14:creationId xmlns:p14="http://schemas.microsoft.com/office/powerpoint/2010/main" val="24953317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ruta 4">
            <a:extLst>
              <a:ext uri="{FF2B5EF4-FFF2-40B4-BE49-F238E27FC236}">
                <a16:creationId xmlns:a16="http://schemas.microsoft.com/office/drawing/2014/main" id="{E5D6E245-57C7-BB57-5E93-1309A3EEAAC5}"/>
              </a:ext>
            </a:extLst>
          </p:cNvPr>
          <p:cNvSpPr txBox="1"/>
          <p:nvPr/>
        </p:nvSpPr>
        <p:spPr>
          <a:xfrm>
            <a:off x="0" y="110838"/>
            <a:ext cx="10986656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sv-SE" sz="4000" b="1" dirty="0">
              <a:effectLst/>
              <a:ea typeface="Times New Roman" panose="02020603050405020304" pitchFamily="18" charset="0"/>
            </a:endParaRPr>
          </a:p>
          <a:p>
            <a:r>
              <a:rPr lang="sv-SE" sz="4000" b="1" dirty="0">
                <a:effectLst/>
                <a:ea typeface="Times New Roman" panose="02020603050405020304" pitchFamily="18" charset="0"/>
              </a:rPr>
              <a:t>Genomför regulatoriska reformer</a:t>
            </a:r>
            <a:r>
              <a:rPr lang="sv-SE" sz="4000" dirty="0">
                <a:effectLst/>
                <a:ea typeface="Times New Roman" panose="02020603050405020304" pitchFamily="18" charset="0"/>
              </a:rPr>
              <a:t> </a:t>
            </a:r>
          </a:p>
          <a:p>
            <a:endParaRPr lang="sv-SE" sz="4000" dirty="0">
              <a:ea typeface="Times New Roman" panose="02020603050405020304" pitchFamily="18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sv-SE" sz="3600" dirty="0">
                <a:effectLst/>
                <a:ea typeface="Times New Roman" panose="02020603050405020304" pitchFamily="18" charset="0"/>
              </a:rPr>
              <a:t>Anta en mängd olika policyverktyg, inklusive regleringar, äganderätter, tillstånd, </a:t>
            </a:r>
            <a:r>
              <a:rPr lang="sv-SE" sz="3600" dirty="0" err="1">
                <a:effectLst/>
                <a:ea typeface="Times New Roman" panose="02020603050405020304" pitchFamily="18" charset="0"/>
              </a:rPr>
              <a:t>marknadsbara</a:t>
            </a:r>
            <a:r>
              <a:rPr lang="sv-SE" sz="3600" dirty="0">
                <a:effectLst/>
                <a:ea typeface="Times New Roman" panose="02020603050405020304" pitchFamily="18" charset="0"/>
              </a:rPr>
              <a:t> tillstånd, avgifter, subventioner och obligationer för att säkerställa hållbarhet.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sv-SE" sz="3600" dirty="0">
              <a:effectLst/>
              <a:ea typeface="Times New Roman" panose="02020603050405020304" pitchFamily="18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sv-SE" sz="3600" dirty="0">
                <a:effectLst/>
                <a:ea typeface="Times New Roman" panose="02020603050405020304" pitchFamily="18" charset="0"/>
              </a:rPr>
              <a:t>Följ principerna om rättvisa, effektivitet, vetenskaplig validitet, konsensus, sparsamhet och miljöeffektivitet.</a:t>
            </a:r>
          </a:p>
        </p:txBody>
      </p:sp>
      <p:pic>
        <p:nvPicPr>
          <p:cNvPr id="2" name="Bildobjekt 1" descr="En bild som visar text, Teckensnitt, logotyp, emblem&#10;&#10;Automatiskt genererad beskrivning">
            <a:extLst>
              <a:ext uri="{FF2B5EF4-FFF2-40B4-BE49-F238E27FC236}">
                <a16:creationId xmlns:a16="http://schemas.microsoft.com/office/drawing/2014/main" id="{486DD44C-B56E-D2DD-A4B2-C893E8B8BC1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rcRect t="7" r="35731" b="53319"/>
          <a:stretch/>
        </p:blipFill>
        <p:spPr>
          <a:xfrm>
            <a:off x="9911041" y="4850779"/>
            <a:ext cx="2291158" cy="2004763"/>
          </a:xfrm>
          <a:prstGeom prst="rect">
            <a:avLst/>
          </a:prstGeom>
          <a:noFill/>
          <a:effectLst>
            <a:outerShdw sx="1000" sy="1000" algn="ctr" rotWithShape="0">
              <a:schemeClr val="tx1"/>
            </a:outerShdw>
          </a:effectLst>
        </p:spPr>
      </p:pic>
    </p:spTree>
    <p:extLst>
      <p:ext uri="{BB962C8B-B14F-4D97-AF65-F5344CB8AC3E}">
        <p14:creationId xmlns:p14="http://schemas.microsoft.com/office/powerpoint/2010/main" val="37099444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ruta 4">
            <a:extLst>
              <a:ext uri="{FF2B5EF4-FFF2-40B4-BE49-F238E27FC236}">
                <a16:creationId xmlns:a16="http://schemas.microsoft.com/office/drawing/2014/main" id="{3BCEB2D6-9803-4348-3B2D-E8B6E7DAF477}"/>
              </a:ext>
            </a:extLst>
          </p:cNvPr>
          <p:cNvSpPr txBox="1"/>
          <p:nvPr/>
        </p:nvSpPr>
        <p:spPr>
          <a:xfrm>
            <a:off x="0" y="2"/>
            <a:ext cx="12039600" cy="6801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sv-SE" sz="3600" b="1" dirty="0">
              <a:effectLst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sv-SE" sz="4000" b="1" dirty="0">
                <a:effectLst/>
                <a:ea typeface="Times New Roman" panose="02020603050405020304" pitchFamily="18" charset="0"/>
              </a:rPr>
              <a:t>Institutionella förändringar</a:t>
            </a:r>
            <a:r>
              <a:rPr lang="sv-SE" sz="4000" dirty="0">
                <a:effectLst/>
                <a:ea typeface="Times New Roman" panose="02020603050405020304" pitchFamily="18" charset="0"/>
              </a:rPr>
              <a:t> </a:t>
            </a:r>
          </a:p>
          <a:p>
            <a:pPr>
              <a:buNone/>
            </a:pPr>
            <a:endParaRPr lang="sv-SE" sz="3600" dirty="0">
              <a:effectLst/>
              <a:ea typeface="Times New Roman" panose="02020603050405020304" pitchFamily="18" charset="0"/>
            </a:endParaRPr>
          </a:p>
          <a:p>
            <a:r>
              <a:rPr lang="sv-SE" sz="3600" dirty="0">
                <a:effectLst/>
                <a:ea typeface="Times New Roman" panose="02020603050405020304" pitchFamily="18" charset="0"/>
              </a:rPr>
              <a:t>Eftersom befintliga institutioner har splittrade mandat och policys och ofta missbrukar marknads- och icke-marknadskrafter för att lösa miljöproblem: </a:t>
            </a:r>
          </a:p>
          <a:p>
            <a:endParaRPr lang="sv-SE" sz="3600" dirty="0">
              <a:ea typeface="Times New Roman" panose="02020603050405020304" pitchFamily="18" charset="0"/>
            </a:endParaRPr>
          </a:p>
          <a:p>
            <a:r>
              <a:rPr lang="sv-SE" sz="3600" dirty="0">
                <a:effectLst/>
                <a:ea typeface="Times New Roman" panose="02020603050405020304" pitchFamily="18" charset="0"/>
              </a:rPr>
              <a:t>Förändra institutioner att 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sv-SE" sz="3600" dirty="0">
                <a:ea typeface="Times New Roman" panose="02020603050405020304" pitchFamily="18" charset="0"/>
              </a:rPr>
              <a:t>I</a:t>
            </a:r>
            <a:r>
              <a:rPr lang="sv-SE" sz="3600" dirty="0">
                <a:effectLst/>
                <a:ea typeface="Times New Roman" panose="02020603050405020304" pitchFamily="18" charset="0"/>
              </a:rPr>
              <a:t>ntegrera ekologiska kostnader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sv-SE" sz="3600" dirty="0">
                <a:effectLst/>
                <a:ea typeface="Times New Roman" panose="02020603050405020304" pitchFamily="18" charset="0"/>
              </a:rPr>
              <a:t>Använd långsiktiga planeringshorisonter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sv-SE" sz="3600" dirty="0">
                <a:effectLst/>
                <a:ea typeface="Times New Roman" panose="02020603050405020304" pitchFamily="18" charset="0"/>
              </a:rPr>
              <a:t>Tilldela äganderätter (offentliga och privata) till resurser på ett bättre sätt</a:t>
            </a:r>
          </a:p>
        </p:txBody>
      </p:sp>
      <p:pic>
        <p:nvPicPr>
          <p:cNvPr id="2" name="Bildobjekt 1" descr="En bild som visar text, Teckensnitt, logotyp, emblem&#10;&#10;Automatiskt genererad beskrivning">
            <a:extLst>
              <a:ext uri="{FF2B5EF4-FFF2-40B4-BE49-F238E27FC236}">
                <a16:creationId xmlns:a16="http://schemas.microsoft.com/office/drawing/2014/main" id="{5B50A3A4-D07F-3463-D9C5-58B4569D9CF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rcRect t="7" r="35731" b="53319"/>
          <a:stretch/>
        </p:blipFill>
        <p:spPr>
          <a:xfrm>
            <a:off x="9911041" y="4850779"/>
            <a:ext cx="2291158" cy="2004763"/>
          </a:xfrm>
          <a:prstGeom prst="rect">
            <a:avLst/>
          </a:prstGeom>
          <a:noFill/>
          <a:effectLst>
            <a:outerShdw sx="1000" sy="1000" algn="ctr" rotWithShape="0">
              <a:schemeClr val="tx1"/>
            </a:outerShdw>
          </a:effectLst>
        </p:spPr>
      </p:pic>
    </p:spTree>
    <p:extLst>
      <p:ext uri="{BB962C8B-B14F-4D97-AF65-F5344CB8AC3E}">
        <p14:creationId xmlns:p14="http://schemas.microsoft.com/office/powerpoint/2010/main" val="26393604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ruta 4">
            <a:extLst>
              <a:ext uri="{FF2B5EF4-FFF2-40B4-BE49-F238E27FC236}">
                <a16:creationId xmlns:a16="http://schemas.microsoft.com/office/drawing/2014/main" id="{226DF95C-CB49-B509-8AA1-011491673190}"/>
              </a:ext>
            </a:extLst>
          </p:cNvPr>
          <p:cNvSpPr txBox="1"/>
          <p:nvPr/>
        </p:nvSpPr>
        <p:spPr>
          <a:xfrm>
            <a:off x="0" y="1"/>
            <a:ext cx="121920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sv-SE" sz="4000" b="1" dirty="0">
              <a:effectLst/>
              <a:ea typeface="Times New Roman" panose="02020603050405020304" pitchFamily="18" charset="0"/>
            </a:endParaRPr>
          </a:p>
          <a:p>
            <a:r>
              <a:rPr lang="sv-SE" sz="4000" b="1" dirty="0">
                <a:effectLst/>
                <a:ea typeface="Times New Roman" panose="02020603050405020304" pitchFamily="18" charset="0"/>
              </a:rPr>
              <a:t>Samhällsbaserat naturskydd</a:t>
            </a:r>
            <a:r>
              <a:rPr lang="sv-SE" sz="4000" dirty="0">
                <a:effectLst/>
                <a:ea typeface="Times New Roman" panose="02020603050405020304" pitchFamily="18" charset="0"/>
              </a:rPr>
              <a:t> </a:t>
            </a:r>
          </a:p>
          <a:p>
            <a:endParaRPr lang="sv-SE" sz="4000" dirty="0">
              <a:ea typeface="Times New Roman" panose="02020603050405020304" pitchFamily="18" charset="0"/>
            </a:endParaRPr>
          </a:p>
          <a:p>
            <a:r>
              <a:rPr lang="sv-SE" sz="4000" dirty="0">
                <a:effectLst/>
                <a:ea typeface="Times New Roman" panose="02020603050405020304" pitchFamily="18" charset="0"/>
              </a:rPr>
              <a:t>Detta gör att bevarandeinsatser anpassas efter lokala behov och prioriteringar. Grundas i stöd </a:t>
            </a:r>
            <a:r>
              <a:rPr lang="sv-SE" sz="4000" dirty="0">
                <a:ea typeface="Times New Roman" panose="02020603050405020304" pitchFamily="18" charset="0"/>
              </a:rPr>
              <a:t>från</a:t>
            </a:r>
            <a:r>
              <a:rPr lang="sv-SE" sz="4000" dirty="0">
                <a:effectLst/>
                <a:ea typeface="Times New Roman" panose="02020603050405020304" pitchFamily="18" charset="0"/>
              </a:rPr>
              <a:t> samhället för bevarandeåtgärder.</a:t>
            </a:r>
          </a:p>
        </p:txBody>
      </p:sp>
      <p:pic>
        <p:nvPicPr>
          <p:cNvPr id="2" name="Bildobjekt 1" descr="En bild som visar text, Teckensnitt, logotyp, emblem&#10;&#10;Automatiskt genererad beskrivning">
            <a:extLst>
              <a:ext uri="{FF2B5EF4-FFF2-40B4-BE49-F238E27FC236}">
                <a16:creationId xmlns:a16="http://schemas.microsoft.com/office/drawing/2014/main" id="{2D9B9A5C-81A5-8A91-DC6E-3C8E2F40123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rcRect t="7" r="35731" b="53319"/>
          <a:stretch/>
        </p:blipFill>
        <p:spPr>
          <a:xfrm>
            <a:off x="9911041" y="4850779"/>
            <a:ext cx="2291158" cy="2004763"/>
          </a:xfrm>
          <a:prstGeom prst="rect">
            <a:avLst/>
          </a:prstGeom>
          <a:noFill/>
          <a:effectLst>
            <a:outerShdw sx="1000" sy="1000" algn="ctr" rotWithShape="0">
              <a:schemeClr val="tx1"/>
            </a:outerShdw>
          </a:effectLst>
        </p:spPr>
      </p:pic>
    </p:spTree>
    <p:extLst>
      <p:ext uri="{BB962C8B-B14F-4D97-AF65-F5344CB8AC3E}">
        <p14:creationId xmlns:p14="http://schemas.microsoft.com/office/powerpoint/2010/main" val="11232204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ruta 4">
            <a:extLst>
              <a:ext uri="{FF2B5EF4-FFF2-40B4-BE49-F238E27FC236}">
                <a16:creationId xmlns:a16="http://schemas.microsoft.com/office/drawing/2014/main" id="{0A6CD857-8817-0DDE-F080-F7DE72A19C21}"/>
              </a:ext>
            </a:extLst>
          </p:cNvPr>
          <p:cNvSpPr txBox="1"/>
          <p:nvPr/>
        </p:nvSpPr>
        <p:spPr>
          <a:xfrm>
            <a:off x="0" y="2"/>
            <a:ext cx="11263745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sv-SE" sz="4000" b="1" dirty="0">
              <a:effectLst/>
              <a:ea typeface="Times New Roman" panose="02020603050405020304" pitchFamily="18" charset="0"/>
            </a:endParaRPr>
          </a:p>
          <a:p>
            <a:r>
              <a:rPr lang="sv-SE" sz="4000" b="1" dirty="0">
                <a:effectLst/>
                <a:ea typeface="Times New Roman" panose="02020603050405020304" pitchFamily="18" charset="0"/>
              </a:rPr>
              <a:t>Universella grundläggande/offentliga tjänster</a:t>
            </a:r>
          </a:p>
          <a:p>
            <a:endParaRPr lang="sv-SE" sz="4000" b="1" dirty="0">
              <a:ea typeface="Times New Roman" panose="02020603050405020304" pitchFamily="18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sv-SE" sz="3200" dirty="0">
                <a:effectLst/>
                <a:ea typeface="Times New Roman" panose="02020603050405020304" pitchFamily="18" charset="0"/>
              </a:rPr>
              <a:t>Investeringar i högkvalitativa offentliga tjänster, såsom sjukvård, utbildning och kollektivtrafik, kan minska behovet av privat konsumtion och stödja ett mer rättvist samhälle. </a:t>
            </a:r>
          </a:p>
          <a:p>
            <a:endParaRPr lang="sv-SE" sz="3200" dirty="0">
              <a:ea typeface="Times New Roman" panose="02020603050405020304" pitchFamily="18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sv-SE" sz="3200" dirty="0">
                <a:effectLst/>
                <a:ea typeface="Times New Roman" panose="02020603050405020304" pitchFamily="18" charset="0"/>
              </a:rPr>
              <a:t>Alla medborgare ska garanteras tillgång till grundläggande tjänster.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sv-SE" sz="3200" dirty="0">
              <a:effectLst/>
              <a:ea typeface="Times New Roman" panose="02020603050405020304" pitchFamily="18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sv-SE" sz="3200" dirty="0">
                <a:effectLst/>
                <a:ea typeface="Times New Roman" panose="02020603050405020304" pitchFamily="18" charset="0"/>
              </a:rPr>
              <a:t>Detta identifieras som en övergång från en "brun" ekonomi till en "omsorgsekonomi".</a:t>
            </a:r>
          </a:p>
        </p:txBody>
      </p:sp>
      <p:pic>
        <p:nvPicPr>
          <p:cNvPr id="2" name="Bildobjekt 1" descr="En bild som visar text, Teckensnitt, logotyp, emblem&#10;&#10;Automatiskt genererad beskrivning">
            <a:extLst>
              <a:ext uri="{FF2B5EF4-FFF2-40B4-BE49-F238E27FC236}">
                <a16:creationId xmlns:a16="http://schemas.microsoft.com/office/drawing/2014/main" id="{48C88A31-767E-6F71-3410-12E6D01F4CF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rcRect t="7" r="35731" b="53319"/>
          <a:stretch/>
        </p:blipFill>
        <p:spPr>
          <a:xfrm>
            <a:off x="9911041" y="4850779"/>
            <a:ext cx="2291158" cy="2004763"/>
          </a:xfrm>
          <a:prstGeom prst="rect">
            <a:avLst/>
          </a:prstGeom>
          <a:noFill/>
          <a:effectLst>
            <a:outerShdw sx="1000" sy="1000" algn="ctr" rotWithShape="0">
              <a:schemeClr val="tx1"/>
            </a:outerShdw>
          </a:effectLst>
        </p:spPr>
      </p:pic>
    </p:spTree>
    <p:extLst>
      <p:ext uri="{BB962C8B-B14F-4D97-AF65-F5344CB8AC3E}">
        <p14:creationId xmlns:p14="http://schemas.microsoft.com/office/powerpoint/2010/main" val="100695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ruta 4">
            <a:extLst>
              <a:ext uri="{FF2B5EF4-FFF2-40B4-BE49-F238E27FC236}">
                <a16:creationId xmlns:a16="http://schemas.microsoft.com/office/drawing/2014/main" id="{3344A41B-7D95-1F0E-EF3E-CBC0AF440968}"/>
              </a:ext>
            </a:extLst>
          </p:cNvPr>
          <p:cNvSpPr txBox="1"/>
          <p:nvPr/>
        </p:nvSpPr>
        <p:spPr>
          <a:xfrm>
            <a:off x="0" y="0"/>
            <a:ext cx="12192000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sv-SE" sz="4000" b="1" dirty="0">
              <a:effectLst/>
              <a:ea typeface="Times New Roman" panose="02020603050405020304" pitchFamily="18" charset="0"/>
            </a:endParaRPr>
          </a:p>
          <a:p>
            <a:r>
              <a:rPr lang="sv-SE" sz="4000" b="1" dirty="0">
                <a:effectLst/>
                <a:ea typeface="Times New Roman" panose="02020603050405020304" pitchFamily="18" charset="0"/>
              </a:rPr>
              <a:t>Grön infrastruktur</a:t>
            </a:r>
            <a:r>
              <a:rPr lang="sv-SE" sz="4000" dirty="0">
                <a:effectLst/>
                <a:ea typeface="Times New Roman" panose="02020603050405020304" pitchFamily="18" charset="0"/>
              </a:rPr>
              <a:t> </a:t>
            </a:r>
          </a:p>
          <a:p>
            <a:endParaRPr lang="sv-SE" sz="4000" dirty="0">
              <a:ea typeface="Times New Roman" panose="02020603050405020304" pitchFamily="18" charset="0"/>
            </a:endParaRPr>
          </a:p>
          <a:p>
            <a:r>
              <a:rPr lang="sv-SE" sz="4000" dirty="0">
                <a:effectLst/>
                <a:ea typeface="Times New Roman" panose="02020603050405020304" pitchFamily="18" charset="0"/>
              </a:rPr>
              <a:t>Investera i naturbaserade lösningar på </a:t>
            </a:r>
            <a:r>
              <a:rPr lang="sv-SE" sz="4000" dirty="0" err="1">
                <a:effectLst/>
                <a:ea typeface="Times New Roman" panose="02020603050405020304" pitchFamily="18" charset="0"/>
              </a:rPr>
              <a:t>infrastruktursutmaningar</a:t>
            </a:r>
            <a:r>
              <a:rPr lang="sv-SE" sz="4000" dirty="0">
                <a:effectLst/>
                <a:ea typeface="Times New Roman" panose="02020603050405020304" pitchFamily="18" charset="0"/>
              </a:rPr>
              <a:t>. </a:t>
            </a:r>
          </a:p>
          <a:p>
            <a:endParaRPr lang="sv-SE" sz="4000" dirty="0">
              <a:ea typeface="Times New Roman" panose="02020603050405020304" pitchFamily="18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sv-SE" sz="4000" dirty="0">
                <a:effectLst/>
                <a:ea typeface="Times New Roman" panose="02020603050405020304" pitchFamily="18" charset="0"/>
              </a:rPr>
              <a:t>Exempel: Plantera gröna tak på byggnader för att minska energiförbrukningen eller använda regnträdgårdar och </a:t>
            </a:r>
            <a:r>
              <a:rPr lang="sv-SE" sz="4000" dirty="0" err="1">
                <a:effectLst/>
                <a:ea typeface="Times New Roman" panose="02020603050405020304" pitchFamily="18" charset="0"/>
              </a:rPr>
              <a:t>biofilter</a:t>
            </a:r>
            <a:r>
              <a:rPr lang="sv-SE" sz="4000" dirty="0">
                <a:effectLst/>
                <a:ea typeface="Times New Roman" panose="02020603050405020304" pitchFamily="18" charset="0"/>
              </a:rPr>
              <a:t> för att hantera dagvattenavrinning.</a:t>
            </a:r>
          </a:p>
        </p:txBody>
      </p:sp>
      <p:pic>
        <p:nvPicPr>
          <p:cNvPr id="2" name="Bildobjekt 1" descr="En bild som visar text, Teckensnitt, logotyp, emblem&#10;&#10;Automatiskt genererad beskrivning">
            <a:extLst>
              <a:ext uri="{FF2B5EF4-FFF2-40B4-BE49-F238E27FC236}">
                <a16:creationId xmlns:a16="http://schemas.microsoft.com/office/drawing/2014/main" id="{552D285F-F347-810A-FD74-83ADE250181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rcRect t="7" r="35731" b="53319"/>
          <a:stretch/>
        </p:blipFill>
        <p:spPr>
          <a:xfrm>
            <a:off x="9911041" y="4850779"/>
            <a:ext cx="2291158" cy="2004763"/>
          </a:xfrm>
          <a:prstGeom prst="rect">
            <a:avLst/>
          </a:prstGeom>
          <a:noFill/>
          <a:effectLst>
            <a:outerShdw sx="1000" sy="1000" algn="ctr" rotWithShape="0">
              <a:schemeClr val="tx1"/>
            </a:outerShdw>
          </a:effectLst>
        </p:spPr>
      </p:pic>
    </p:spTree>
    <p:extLst>
      <p:ext uri="{BB962C8B-B14F-4D97-AF65-F5344CB8AC3E}">
        <p14:creationId xmlns:p14="http://schemas.microsoft.com/office/powerpoint/2010/main" val="41777938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ruta 4">
            <a:extLst>
              <a:ext uri="{FF2B5EF4-FFF2-40B4-BE49-F238E27FC236}">
                <a16:creationId xmlns:a16="http://schemas.microsoft.com/office/drawing/2014/main" id="{0FE96A3A-50D7-E22C-4A2C-2DF2C03CDDEE}"/>
              </a:ext>
            </a:extLst>
          </p:cNvPr>
          <p:cNvSpPr txBox="1"/>
          <p:nvPr/>
        </p:nvSpPr>
        <p:spPr>
          <a:xfrm>
            <a:off x="0" y="1"/>
            <a:ext cx="10334847" cy="6863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sv-SE" sz="4000" b="1" dirty="0">
              <a:effectLst/>
              <a:ea typeface="Times New Roman" panose="02020603050405020304" pitchFamily="18" charset="0"/>
            </a:endParaRPr>
          </a:p>
          <a:p>
            <a:r>
              <a:rPr lang="sv-SE" sz="4000" b="1" dirty="0">
                <a:effectLst/>
                <a:ea typeface="Times New Roman" panose="02020603050405020304" pitchFamily="18" charset="0"/>
              </a:rPr>
              <a:t>Minskning av konsumtion</a:t>
            </a:r>
            <a:r>
              <a:rPr lang="sv-SE" sz="4000" dirty="0">
                <a:effectLst/>
                <a:ea typeface="Times New Roman" panose="02020603050405020304" pitchFamily="18" charset="0"/>
              </a:rPr>
              <a:t> </a:t>
            </a:r>
          </a:p>
          <a:p>
            <a:endParaRPr lang="sv-SE" sz="3600" dirty="0">
              <a:ea typeface="Times New Roman" panose="02020603050405020304" pitchFamily="18" charset="0"/>
            </a:endParaRPr>
          </a:p>
          <a:p>
            <a:r>
              <a:rPr lang="sv-SE" sz="3600" dirty="0">
                <a:effectLst/>
                <a:ea typeface="Times New Roman" panose="02020603050405020304" pitchFamily="18" charset="0"/>
              </a:rPr>
              <a:t>Policy kan utformas för att minska konsumtionen.</a:t>
            </a:r>
          </a:p>
          <a:p>
            <a:endParaRPr lang="sv-SE" sz="3600" dirty="0">
              <a:effectLst/>
              <a:ea typeface="Times New Roman" panose="02020603050405020304" pitchFamily="18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sv-SE" sz="3600" dirty="0">
                <a:effectLst/>
                <a:ea typeface="Times New Roman" panose="02020603050405020304" pitchFamily="18" charset="0"/>
              </a:rPr>
              <a:t>Exempel: Reklamrestriktioner, konsumtionsbegränsningar (flygresor) och förbud mot engångsprodukter.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sv-SE" sz="3600" dirty="0">
              <a:effectLst/>
              <a:ea typeface="Times New Roman" panose="02020603050405020304" pitchFamily="18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sv-SE" sz="3600" dirty="0">
                <a:effectLst/>
                <a:ea typeface="Times New Roman" panose="02020603050405020304" pitchFamily="18" charset="0"/>
              </a:rPr>
              <a:t>Detta kan förändra samhälleliga normer och minska den totala efterfrågan på varor och tjänster.</a:t>
            </a:r>
          </a:p>
        </p:txBody>
      </p:sp>
      <p:pic>
        <p:nvPicPr>
          <p:cNvPr id="2" name="Bildobjekt 1" descr="En bild som visar text, Teckensnitt, logotyp, emblem&#10;&#10;Automatiskt genererad beskrivning">
            <a:extLst>
              <a:ext uri="{FF2B5EF4-FFF2-40B4-BE49-F238E27FC236}">
                <a16:creationId xmlns:a16="http://schemas.microsoft.com/office/drawing/2014/main" id="{6A50120C-E6FD-209F-45ED-CCB40351955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rcRect t="7" r="35731" b="53319"/>
          <a:stretch/>
        </p:blipFill>
        <p:spPr>
          <a:xfrm>
            <a:off x="9911041" y="4850779"/>
            <a:ext cx="2291158" cy="2004763"/>
          </a:xfrm>
          <a:prstGeom prst="rect">
            <a:avLst/>
          </a:prstGeom>
          <a:noFill/>
          <a:effectLst>
            <a:outerShdw sx="1000" sy="1000" algn="ctr" rotWithShape="0">
              <a:schemeClr val="tx1"/>
            </a:outerShdw>
          </a:effectLst>
        </p:spPr>
      </p:pic>
    </p:spTree>
    <p:extLst>
      <p:ext uri="{BB962C8B-B14F-4D97-AF65-F5344CB8AC3E}">
        <p14:creationId xmlns:p14="http://schemas.microsoft.com/office/powerpoint/2010/main" val="32841233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396</Words>
  <Application>Microsoft Macintosh PowerPoint</Application>
  <PresentationFormat>Bredbild</PresentationFormat>
  <Paragraphs>68</Paragraphs>
  <Slides>11</Slides>
  <Notes>2</Notes>
  <HiddenSlides>0</HiddenSlides>
  <MMClips>0</MMClips>
  <ScaleCrop>false</ScaleCrop>
  <HeadingPairs>
    <vt:vector size="6" baseType="variant">
      <vt:variant>
        <vt:lpstr>Använt teckensnitt</vt:lpstr>
      </vt:variant>
      <vt:variant>
        <vt:i4>4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Times New Roman</vt:lpstr>
      <vt:lpstr>Office-tema</vt:lpstr>
      <vt:lpstr>PowerPoint-presentation</vt:lpstr>
      <vt:lpstr>Quiz!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Microsoft Office User</dc:creator>
  <cp:lastModifiedBy>Microsoft Office User</cp:lastModifiedBy>
  <cp:revision>1</cp:revision>
  <dcterms:created xsi:type="dcterms:W3CDTF">2025-05-06T12:33:03Z</dcterms:created>
  <dcterms:modified xsi:type="dcterms:W3CDTF">2025-05-06T12:33:14Z</dcterms:modified>
</cp:coreProperties>
</file>